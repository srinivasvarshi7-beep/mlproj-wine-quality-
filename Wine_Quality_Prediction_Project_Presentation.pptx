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Wine samples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33</c:v>
                </c:pt>
                <c:pt idx="2">
                  <c:v>483</c:v>
                </c:pt>
                <c:pt idx="3">
                  <c:v>462</c:v>
                </c:pt>
                <c:pt idx="4">
                  <c:v>143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70-42F8-8F06-332AF44C4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B7B9C6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2C2C3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B7B9C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F7F7FA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Wine samples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33</c:v>
                </c:pt>
                <c:pt idx="2">
                  <c:v>483</c:v>
                </c:pt>
                <c:pt idx="3">
                  <c:v>462</c:v>
                </c:pt>
                <c:pt idx="4">
                  <c:v>143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E1-4A4D-9DE1-2FD845B923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B7B9C6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2C2C3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solidFill>
                      <a:srgbClr val="B7B9C6"/>
                    </a:solidFill>
                  </a:defRPr>
                </a:pPr>
                <a:r>
                  <a:rPr lang="en-IN"/>
                  <a:t>Number of samples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B7B9C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1"/>
  </c:chart>
  <c:txPr>
    <a:bodyPr/>
    <a:lstStyle/>
    <a:p>
      <a:pPr>
        <a:defRPr sz="1100">
          <a:solidFill>
            <a:srgbClr val="F7F7FA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Wine samples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33</c:v>
                </c:pt>
                <c:pt idx="2">
                  <c:v>483</c:v>
                </c:pt>
                <c:pt idx="3">
                  <c:v>462</c:v>
                </c:pt>
                <c:pt idx="4">
                  <c:v>143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70-42F8-8F06-332AF44C4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B7B9C6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2C2C3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B7B9C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F7F7FA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Wine samples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33</c:v>
                </c:pt>
                <c:pt idx="2">
                  <c:v>483</c:v>
                </c:pt>
                <c:pt idx="3">
                  <c:v>462</c:v>
                </c:pt>
                <c:pt idx="4">
                  <c:v>143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E1-4A4D-9DE1-2FD845B923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B7B9C6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2C2C3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solidFill>
                      <a:srgbClr val="B7B9C6"/>
                    </a:solidFill>
                  </a:defRPr>
                </a:pPr>
                <a:r>
                  <a:rPr lang="en-IN"/>
                  <a:t>Number of samples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B7B9C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1"/>
  </c:chart>
  <c:txPr>
    <a:bodyPr/>
    <a:lstStyle/>
    <a:p>
      <a:pPr>
        <a:defRPr sz="1100">
          <a:solidFill>
            <a:srgbClr val="F7F7FA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free sulfur dioxide</c:v>
                </c:pt>
                <c:pt idx="1">
                  <c:v>pH</c:v>
                </c:pt>
                <c:pt idx="2">
                  <c:v>citric acid</c:v>
                </c:pt>
                <c:pt idx="3">
                  <c:v>total sulfur dioxide</c:v>
                </c:pt>
                <c:pt idx="4">
                  <c:v>sulphates</c:v>
                </c:pt>
                <c:pt idx="5">
                  <c:v>volatile acidity</c:v>
                </c:pt>
                <c:pt idx="6">
                  <c:v>alcohol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7.76</c:v>
                </c:pt>
                <c:pt idx="1">
                  <c:v>8.07</c:v>
                </c:pt>
                <c:pt idx="2">
                  <c:v>8.65</c:v>
                </c:pt>
                <c:pt idx="3">
                  <c:v>9.5299999999999994</c:v>
                </c:pt>
                <c:pt idx="4">
                  <c:v>10.72</c:v>
                </c:pt>
                <c:pt idx="5">
                  <c:v>11.01</c:v>
                </c:pt>
                <c:pt idx="6">
                  <c:v>15.12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A7-4847-A781-AD82A75DE7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B7B9C6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2C2C3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>
                    <a:solidFill>
                      <a:srgbClr val="B7B9C6"/>
                    </a:solidFill>
                  </a:defRPr>
                </a:pPr>
                <a:r>
                  <a:rPr lang="en-IN"/>
                  <a:t>Importance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B7B9C6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F7F7FA"/>
          </a:solidFill>
          <a:latin typeface="Aptos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nography.com/2018/10/how_to_properly_design_a_wine_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63840" y="0"/>
            <a:ext cx="4343400" cy="6858000"/>
          </a:xfrm>
          <a:prstGeom prst="rect">
            <a:avLst/>
          </a:prstGeom>
          <a:solidFill>
            <a:srgbClr val="94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915755"/>
            <a:ext cx="694944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7F7FA"/>
                </a:solidFill>
                <a:latin typeface="Aptos"/>
              </a:defRPr>
            </a:pPr>
            <a:r>
              <a:rPr dirty="0"/>
              <a:t>WINE QUALITY</a:t>
            </a:r>
          </a:p>
          <a:p>
            <a:pPr>
              <a:spcAft>
                <a:spcPts val="600"/>
              </a:spcAft>
              <a:defRPr sz="3400" b="1">
                <a:solidFill>
                  <a:srgbClr val="F7F7FA"/>
                </a:solidFill>
                <a:latin typeface="Aptos"/>
              </a:defRPr>
            </a:pPr>
            <a:r>
              <a:rPr dirty="0"/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56991"/>
            <a:ext cx="65379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B7B9C6"/>
                </a:solidFill>
                <a:latin typeface="Aptos"/>
              </a:defRPr>
            </a:pPr>
            <a:r>
              <a:rPr dirty="0"/>
              <a:t>Using </a:t>
            </a:r>
            <a:r>
              <a:rPr dirty="0" err="1"/>
              <a:t>XGBoost</a:t>
            </a:r>
            <a:r>
              <a:rPr dirty="0"/>
              <a:t> &amp; </a:t>
            </a:r>
            <a:r>
              <a:rPr dirty="0" err="1"/>
              <a:t>LightGBM</a:t>
            </a:r>
            <a:endParaRPr dirty="0"/>
          </a:p>
          <a:p>
            <a:pPr>
              <a:spcAft>
                <a:spcPts val="600"/>
              </a:spcAft>
              <a:defRPr sz="2100" b="0">
                <a:solidFill>
                  <a:srgbClr val="B7B9C6"/>
                </a:solidFill>
                <a:latin typeface="Aptos"/>
              </a:defRPr>
            </a:pPr>
            <a:r>
              <a:rPr dirty="0"/>
              <a:t>with Hyperparameter 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4370832"/>
            <a:ext cx="4846320" cy="54864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592659"/>
            <a:ext cx="6126480" cy="195438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7F7FA"/>
                </a:solidFill>
                <a:latin typeface="Aptos"/>
              </a:defRPr>
            </a:pPr>
            <a:r>
              <a:rPr dirty="0"/>
              <a:t>Presented by: </a:t>
            </a:r>
            <a:endParaRPr lang="en-IN" dirty="0"/>
          </a:p>
          <a:p>
            <a:pPr>
              <a:spcAft>
                <a:spcPts val="600"/>
              </a:spcAft>
              <a:defRPr sz="1600" b="0">
                <a:solidFill>
                  <a:srgbClr val="F7F7FA"/>
                </a:solidFill>
                <a:latin typeface="Aptos"/>
              </a:defRPr>
            </a:pPr>
            <a:r>
              <a:rPr lang="en-IN" dirty="0"/>
              <a:t>U. Varshitha - 2520030206</a:t>
            </a:r>
          </a:p>
          <a:p>
            <a:pPr>
              <a:spcAft>
                <a:spcPts val="600"/>
              </a:spcAft>
              <a:defRPr sz="1600" b="0">
                <a:solidFill>
                  <a:srgbClr val="F7F7FA"/>
                </a:solidFill>
                <a:latin typeface="Aptos"/>
              </a:defRPr>
            </a:pPr>
            <a:r>
              <a:rPr lang="en-IN" dirty="0"/>
              <a:t>Ch. Sreeja - 2520030219</a:t>
            </a:r>
            <a:endParaRPr dirty="0"/>
          </a:p>
          <a:p>
            <a:pPr>
              <a:spcAft>
                <a:spcPts val="600"/>
              </a:spcAft>
              <a:defRPr sz="1600" b="0">
                <a:solidFill>
                  <a:srgbClr val="F7F7FA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600"/>
              </a:spcAft>
              <a:defRPr sz="1600" b="0">
                <a:solidFill>
                  <a:srgbClr val="F7F7FA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600"/>
              </a:spcAft>
              <a:defRPr sz="1600" b="0">
                <a:solidFill>
                  <a:srgbClr val="F7F7FA"/>
                </a:solidFill>
                <a:latin typeface="Aptos"/>
              </a:defRPr>
            </a:pPr>
            <a:r>
              <a:rPr lang="en-IN" b="1" dirty="0"/>
              <a:t>Under the Guidance of : </a:t>
            </a:r>
            <a:r>
              <a:rPr lang="en-IN" dirty="0"/>
              <a:t>Ms. Rani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BE0FE3-A5F5-ABBB-A839-906F23A97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90880" y="0"/>
            <a:ext cx="50163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Problem Statement &amp;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Why predict wine quality from chemical measurements?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49240" cy="18288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81328"/>
            <a:ext cx="49834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11095"/>
            <a:ext cx="4983479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B7B9C6"/>
                </a:solidFill>
                <a:latin typeface="Aptos"/>
              </a:defRPr>
            </a:pPr>
            <a:r>
              <a:t>Wine quality is associated with multiple chemical properties. Interpreting many measurements together can be difficult, and manual assessment may not scale easily.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49240" cy="18288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1828800"/>
          </a:xfrm>
          <a:prstGeom prst="rect">
            <a:avLst/>
          </a:prstGeom>
          <a:solidFill>
            <a:srgbClr val="F5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81328"/>
            <a:ext cx="49834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11095"/>
            <a:ext cx="4983479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B7B9C6"/>
                </a:solidFill>
                <a:latin typeface="Aptos"/>
              </a:defRPr>
            </a:pPr>
            <a:r>
              <a:t>Train machine-learning classifiers to learn patterns between physicochemical properties and recorded quality scores.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5383B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10698480" cy="20574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7F7FA"/>
                </a:solidFill>
                <a:latin typeface="Aptos"/>
              </a:defRPr>
            </a:pPr>
            <a:r>
              <a:t>•  Explore and visualize the WineQT dataset.</a:t>
            </a:r>
          </a:p>
          <a:p>
            <a:pPr>
              <a:spcAft>
                <a:spcPts val="1100"/>
              </a:spcAft>
              <a:defRPr sz="1700">
                <a:solidFill>
                  <a:srgbClr val="F7F7FA"/>
                </a:solidFill>
                <a:latin typeface="Aptos"/>
              </a:defRPr>
            </a:pPr>
            <a:r>
              <a:t>•  Train and compare XGBoost and LightGBM models.</a:t>
            </a:r>
          </a:p>
          <a:p>
            <a:pPr>
              <a:spcAft>
                <a:spcPts val="1100"/>
              </a:spcAft>
              <a:defRPr sz="1700">
                <a:solidFill>
                  <a:srgbClr val="F7F7FA"/>
                </a:solidFill>
                <a:latin typeface="Aptos"/>
              </a:defRPr>
            </a:pPr>
            <a:r>
              <a:t>•  Tune hyperparameters and evaluate on held-out test data.</a:t>
            </a:r>
          </a:p>
          <a:p>
            <a:pPr>
              <a:spcAft>
                <a:spcPts val="1100"/>
              </a:spcAft>
              <a:defRPr sz="1700">
                <a:solidFill>
                  <a:srgbClr val="F7F7FA"/>
                </a:solidFill>
                <a:latin typeface="Aptos"/>
              </a:defRPr>
            </a:pPr>
            <a:r>
              <a:t>•  Deploy an interactive prediction and analysis website.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72200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Prediction is an estimate from data patterns—not a guarantee of real-world wine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WineQT.csv • dataset used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9202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170078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E5383B"/>
                </a:solidFill>
                <a:latin typeface="Aptos"/>
              </a:defRPr>
            </a:pPr>
            <a:r>
              <a:t>1,143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B9C6"/>
                </a:solidFill>
                <a:latin typeface="Aptos"/>
              </a:defRPr>
            </a:pPr>
            <a:r>
              <a:t>wine samples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280160"/>
            <a:ext cx="19202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81528" y="1481328"/>
            <a:ext cx="170078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F5BA4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1993392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B9C6"/>
                </a:solidFill>
                <a:latin typeface="Aptos"/>
              </a:defRPr>
            </a:pPr>
            <a:r>
              <a:t>original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280160"/>
            <a:ext cx="19202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21808" y="1481328"/>
            <a:ext cx="170078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5ABE8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1993392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B9C6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280160"/>
            <a:ext cx="19202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62088" y="1481328"/>
            <a:ext cx="170078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E5383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1993392"/>
            <a:ext cx="17007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B7B9C6"/>
                </a:solidFill>
                <a:latin typeface="Aptos"/>
              </a:defRPr>
            </a:pPr>
            <a:r>
              <a:t>quality classes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5120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5383B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46120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7F7FA"/>
                </a:solidFill>
                <a:latin typeface="Aptos"/>
              </a:defRPr>
            </a:pPr>
            <a:r>
              <a:t>• Fixed acidity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30168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7F7FA"/>
                </a:solidFill>
                <a:latin typeface="Aptos"/>
              </a:defRPr>
            </a:pPr>
            <a:r>
              <a:t>• Volatile acidity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14215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7F7FA"/>
                </a:solidFill>
                <a:latin typeface="Aptos"/>
              </a:defRPr>
            </a:pPr>
            <a:r>
              <a:t>• Citric acid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98264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7F7FA"/>
                </a:solidFill>
                <a:latin typeface="Aptos"/>
              </a:defRPr>
            </a:pPr>
            <a:r>
              <a:t>• Residual sugar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82312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7F7FA"/>
                </a:solidFill>
                <a:latin typeface="Aptos"/>
              </a:defRPr>
            </a:pPr>
            <a:r>
              <a:t>• Chlorides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66360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7F7FA"/>
                </a:solidFill>
                <a:latin typeface="Aptos"/>
              </a:defRPr>
            </a:pPr>
            <a:r>
              <a:t>• Free sulfur dioxide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246120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7F7FA"/>
                </a:solidFill>
                <a:latin typeface="Aptos"/>
              </a:defRPr>
            </a:pPr>
            <a:r>
              <a:t>• Total sulfur dioxide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630168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7F7FA"/>
                </a:solidFill>
                <a:latin typeface="Aptos"/>
              </a:defRPr>
            </a:pPr>
            <a:r>
              <a:t>• Density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4014215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7F7FA"/>
                </a:solidFill>
                <a:latin typeface="Aptos"/>
              </a:defRPr>
            </a:pPr>
            <a:r>
              <a:t>• 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398264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7F7FA"/>
                </a:solidFill>
                <a:latin typeface="Aptos"/>
              </a:defRPr>
            </a:pPr>
            <a:r>
              <a:t>• Sulphates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782312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F7F7FA"/>
                </a:solidFill>
                <a:latin typeface="Aptos"/>
              </a:defRPr>
            </a:pPr>
            <a:r>
              <a:t>• Alcohol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2834640"/>
            <a:ext cx="48920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37960" y="2834640"/>
            <a:ext cx="64008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39128" y="2990088"/>
            <a:ext cx="45262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TARGET: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9128" y="3419856"/>
            <a:ext cx="45262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The model predicts one of six scores: 3, 4, 5, 6, 7 or 8.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4251960"/>
            <a:ext cx="48920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37960" y="4251960"/>
            <a:ext cx="64008" cy="1143000"/>
          </a:xfrm>
          <a:prstGeom prst="rect">
            <a:avLst/>
          </a:prstGeom>
          <a:solidFill>
            <a:srgbClr val="F5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39128" y="4407408"/>
            <a:ext cx="45262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ID column removed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8" y="4837176"/>
            <a:ext cx="45262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Id identifies a row; it is not a chemical measurement used for prediction.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B7B9C6"/>
                </a:solidFill>
                <a:latin typeface="Aptos"/>
              </a:defRPr>
            </a:pPr>
            <a:r>
              <a:t>No missing values • No duplicate rows • Numerical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Exploratory Data Analysis (EDA)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Understand the dataset before 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E5383B"/>
                </a:solidFill>
                <a:latin typeface="Aptos"/>
              </a:defRPr>
            </a:pPr>
            <a:r>
              <a:t>QUALITY SCORE DISTRIBUTION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45920"/>
          <a:ext cx="56235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45920"/>
          <a:ext cx="56235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37960" y="1417320"/>
            <a:ext cx="48920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37960" y="1417320"/>
            <a:ext cx="64008" cy="1143000"/>
          </a:xfrm>
          <a:prstGeom prst="rect">
            <a:avLst/>
          </a:prstGeom>
          <a:solidFill>
            <a:srgbClr val="F5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39128" y="1572768"/>
            <a:ext cx="45262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Class imbalance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2002536"/>
            <a:ext cx="4526279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rPr dirty="0"/>
              <a:t>Most samples are quality 5 or 6; scores </a:t>
            </a:r>
            <a:r>
              <a:rPr lang="en-IN" dirty="0"/>
              <a:t>7, 4, </a:t>
            </a:r>
            <a:r>
              <a:rPr dirty="0"/>
              <a:t>3 and 8 are rare.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788920"/>
            <a:ext cx="48920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37960" y="2788920"/>
            <a:ext cx="64008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9128" y="2944368"/>
            <a:ext cx="45262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374136"/>
            <a:ext cx="45262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Alcohol: about +0.48 with quality. Volatile acidity: about −0.41.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4160520"/>
            <a:ext cx="48920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37960" y="4160520"/>
            <a:ext cx="64008" cy="1143000"/>
          </a:xfrm>
          <a:prstGeom prst="rect">
            <a:avLst/>
          </a:prstGeom>
          <a:solidFill>
            <a:srgbClr val="5A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9128" y="4315968"/>
            <a:ext cx="45262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Data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4745736"/>
            <a:ext cx="45262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0 missing values and 0 duplicate rows were found.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623560"/>
            <a:ext cx="4709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7B9C6"/>
                </a:solidFill>
                <a:latin typeface="Aptos"/>
              </a:defRPr>
            </a:pPr>
            <a:r>
              <a:t>Correlation does not prove causation.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45C3FED-3953-6817-3108-0E1AB683B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3" y="1682491"/>
            <a:ext cx="6099054" cy="4297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1B973-4BCA-1E7C-BD7D-D939722E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8D4F7-08A9-961F-E26A-2F65D662626B}"/>
              </a:ext>
            </a:extLst>
          </p:cNvPr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rPr lang="en-IN" dirty="0"/>
              <a:t>Correlation Heatmap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B0C20-2C67-4018-26A1-F3C7ACE6BBB5}"/>
              </a:ext>
            </a:extLst>
          </p:cNvPr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172A6-BDA2-C9B4-D465-B3D3CF623B1F}"/>
              </a:ext>
            </a:extLst>
          </p:cNvPr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04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BBB752A-DFF1-9D75-3B95-66EA99655681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1645920"/>
          <a:ext cx="56235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DD560E2-8547-8714-C85B-E6836F396D1F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1645920"/>
          <a:ext cx="56235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CB46004-513E-CC6C-65DD-1ADE047F51E0}"/>
              </a:ext>
            </a:extLst>
          </p:cNvPr>
          <p:cNvSpPr/>
          <p:nvPr/>
        </p:nvSpPr>
        <p:spPr>
          <a:xfrm>
            <a:off x="6537960" y="1417320"/>
            <a:ext cx="64008" cy="1143000"/>
          </a:xfrm>
          <a:prstGeom prst="rect">
            <a:avLst/>
          </a:prstGeom>
          <a:solidFill>
            <a:srgbClr val="F5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FC4D31-01A3-D37A-86E3-6DAB31FC5A1D}"/>
              </a:ext>
            </a:extLst>
          </p:cNvPr>
          <p:cNvSpPr/>
          <p:nvPr/>
        </p:nvSpPr>
        <p:spPr>
          <a:xfrm>
            <a:off x="6537960" y="2788920"/>
            <a:ext cx="64008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1D3153-2AE4-2BCA-FB80-F2157BD850FC}"/>
              </a:ext>
            </a:extLst>
          </p:cNvPr>
          <p:cNvSpPr/>
          <p:nvPr/>
        </p:nvSpPr>
        <p:spPr>
          <a:xfrm>
            <a:off x="6537960" y="4160520"/>
            <a:ext cx="64008" cy="1143000"/>
          </a:xfrm>
          <a:prstGeom prst="rect">
            <a:avLst/>
          </a:prstGeom>
          <a:solidFill>
            <a:srgbClr val="5A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C20E8FD-76B8-DD12-6163-95B374A60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92147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26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Preparing the inputs and target for 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698480" cy="7315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1344168"/>
            <a:ext cx="530352" cy="502920"/>
          </a:xfrm>
          <a:prstGeom prst="roundRect">
            <a:avLst>
              <a:gd name="adj" fmla="val 12000"/>
            </a:avLst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35608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7F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344168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7F7FA"/>
                </a:solidFill>
                <a:latin typeface="Aptos"/>
              </a:defRPr>
            </a:pPr>
            <a:r>
              <a:t>Remove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353312"/>
            <a:ext cx="7223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Drop the row identifier.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76272"/>
            <a:ext cx="10698480" cy="7315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2688" y="2286000"/>
            <a:ext cx="530352" cy="502920"/>
          </a:xfrm>
          <a:prstGeom prst="roundRect">
            <a:avLst>
              <a:gd name="adj" fmla="val 12000"/>
            </a:avLst>
          </a:prstGeom>
          <a:solidFill>
            <a:srgbClr val="94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77440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7F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28600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7F7FA"/>
                </a:solidFill>
                <a:latin typeface="Aptos"/>
              </a:defRPr>
            </a:pPr>
            <a:r>
              <a:t>Separate X and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95144"/>
            <a:ext cx="7223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X = 11 features; y = quality.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18104"/>
            <a:ext cx="10698480" cy="7315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2688" y="3227832"/>
            <a:ext cx="530352" cy="502920"/>
          </a:xfrm>
          <a:prstGeom prst="roundRect">
            <a:avLst>
              <a:gd name="adj" fmla="val 12000"/>
            </a:avLst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319272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7F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227832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7F7FA"/>
                </a:solidFill>
                <a:latin typeface="Aptos"/>
              </a:defRPr>
            </a:pPr>
            <a:r>
              <a:t>Stratified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236976"/>
            <a:ext cx="7223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80% train / 20%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59935"/>
            <a:ext cx="10698480" cy="7315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2688" y="4169663"/>
            <a:ext cx="530352" cy="502920"/>
          </a:xfrm>
          <a:prstGeom prst="roundRect">
            <a:avLst>
              <a:gd name="adj" fmla="val 12000"/>
            </a:avLst>
          </a:prstGeom>
          <a:solidFill>
            <a:srgbClr val="94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261103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7F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169663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7F7FA"/>
                </a:solidFill>
                <a:latin typeface="Aptos"/>
              </a:defRPr>
            </a:pPr>
            <a:r>
              <a:t>Encode labels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178807"/>
            <a:ext cx="7223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Scores 3–8 mapped to classes 0–5.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01768"/>
            <a:ext cx="10698480" cy="7315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32688" y="5111496"/>
            <a:ext cx="530352" cy="502920"/>
          </a:xfrm>
          <a:prstGeom prst="roundRect">
            <a:avLst>
              <a:gd name="adj" fmla="val 12000"/>
            </a:avLst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202936"/>
            <a:ext cx="47548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7F7F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111496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7F7FA"/>
                </a:solidFill>
                <a:latin typeface="Aptos"/>
              </a:defRPr>
            </a:pPr>
            <a:r>
              <a:t>No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120640"/>
            <a:ext cx="7223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Tree-based models generally do not require feature scaling.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08076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BA4A"/>
                </a:solidFill>
                <a:latin typeface="Aptos"/>
              </a:defRPr>
            </a:pPr>
            <a:r>
              <a:t>Training set: 914 rows     •     Test set: 229 rows     •     random_state =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Algorithms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Two gradient-boosting frameworks were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246888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246888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72768"/>
            <a:ext cx="49377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02536"/>
            <a:ext cx="4937759" cy="1783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B7B9C6"/>
                </a:solidFill>
                <a:latin typeface="Aptos"/>
              </a:defRPr>
            </a:pPr>
            <a:r>
              <a:t>• Extreme Gradient Boosting</a:t>
            </a:r>
          </a:p>
          <a:p>
            <a:pPr>
              <a:spcAft>
                <a:spcPts val="600"/>
              </a:spcAft>
              <a:defRPr sz="1700" b="0">
                <a:solidFill>
                  <a:srgbClr val="B7B9C6"/>
                </a:solidFill>
                <a:latin typeface="Aptos"/>
              </a:defRPr>
            </a:pPr>
            <a:r>
              <a:t>• Ensemble of decision trees</a:t>
            </a:r>
          </a:p>
          <a:p>
            <a:pPr>
              <a:spcAft>
                <a:spcPts val="600"/>
              </a:spcAft>
              <a:defRPr sz="1700" b="0">
                <a:solidFill>
                  <a:srgbClr val="B7B9C6"/>
                </a:solidFill>
                <a:latin typeface="Aptos"/>
              </a:defRPr>
            </a:pPr>
            <a:r>
              <a:t>• Builds trees sequentially to improve predictions</a:t>
            </a:r>
          </a:p>
          <a:p>
            <a:pPr>
              <a:spcAft>
                <a:spcPts val="600"/>
              </a:spcAft>
              <a:defRPr sz="1700" b="0">
                <a:solidFill>
                  <a:srgbClr val="B7B9C6"/>
                </a:solidFill>
                <a:latin typeface="Aptos"/>
              </a:defRPr>
            </a:pPr>
            <a:r>
              <a:t>• Includes regularization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246888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64008" cy="2468880"/>
          </a:xfrm>
          <a:prstGeom prst="rect">
            <a:avLst/>
          </a:prstGeom>
          <a:solidFill>
            <a:srgbClr val="F5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72768"/>
            <a:ext cx="49377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LightGBM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02536"/>
            <a:ext cx="4937759" cy="1783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B7B9C6"/>
                </a:solidFill>
                <a:latin typeface="Aptos"/>
              </a:defRPr>
            </a:pPr>
            <a:r>
              <a:t>• Light Gradient Boosting Machine</a:t>
            </a:r>
          </a:p>
          <a:p>
            <a:pPr>
              <a:spcAft>
                <a:spcPts val="600"/>
              </a:spcAft>
              <a:defRPr sz="1700" b="0">
                <a:solidFill>
                  <a:srgbClr val="B7B9C6"/>
                </a:solidFill>
                <a:latin typeface="Aptos"/>
              </a:defRPr>
            </a:pPr>
            <a:r>
              <a:t>• Efficient gradient-boosting framework</a:t>
            </a:r>
          </a:p>
          <a:p>
            <a:pPr>
              <a:spcAft>
                <a:spcPts val="600"/>
              </a:spcAft>
              <a:defRPr sz="1700" b="0">
                <a:solidFill>
                  <a:srgbClr val="B7B9C6"/>
                </a:solidFill>
                <a:latin typeface="Aptos"/>
              </a:defRPr>
            </a:pPr>
            <a:r>
              <a:t>• Uses decision-tree ensembles</a:t>
            </a:r>
          </a:p>
          <a:p>
            <a:pPr>
              <a:spcAft>
                <a:spcPts val="600"/>
              </a:spcAft>
              <a:defRPr sz="1700" b="0">
                <a:solidFill>
                  <a:srgbClr val="B7B9C6"/>
                </a:solidFill>
                <a:latin typeface="Aptos"/>
              </a:defRPr>
            </a:pPr>
            <a:r>
              <a:t>• Commonly grows trees leaf-wise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10515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7F7FA"/>
                </a:solidFill>
                <a:latin typeface="Aptos"/>
              </a:defRPr>
            </a:pPr>
            <a:r>
              <a:t>Problem type: Supervised • Multiclass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74920"/>
            <a:ext cx="102412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B7B9C6"/>
                </a:solidFill>
                <a:latin typeface="Aptos"/>
              </a:defRPr>
            </a:pPr>
            <a:r>
              <a:t>The model learns from labeled examples: chemical measurements are the inputs, and the recorded quality score is the target.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Hyperparameter 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RandomizedSearchCV used to select promising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32588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81328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20 combinations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11095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n_iter =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1325880"/>
          </a:xfrm>
          <a:prstGeom prst="rect">
            <a:avLst/>
          </a:prstGeom>
          <a:solidFill>
            <a:srgbClr val="F5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481328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3-fold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11095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cv =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64008" cy="1325880"/>
          </a:xfrm>
          <a:prstGeom prst="rect">
            <a:avLst/>
          </a:prstGeom>
          <a:solidFill>
            <a:srgbClr val="5A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481328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11095"/>
            <a:ext cx="30632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scoring = f1_macro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E5383B"/>
                </a:solidFill>
                <a:latin typeface="Aptos"/>
              </a:defRPr>
            </a:pPr>
            <a:r>
              <a:t>SELECTED XGBOOST SETTINGS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77240" y="3474720"/>
          <a:ext cx="51206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Hyperparameter</a:t>
                      </a:r>
                    </a:p>
                  </a:txBody>
                  <a:tcPr marL="73152" marR="54864" marT="36576" marB="27432" anchor="ctr">
                    <a:solidFill>
                      <a:srgbClr val="941C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Selected value</a:t>
                      </a:r>
                    </a:p>
                  </a:txBody>
                  <a:tcPr marL="73152" marR="54864" marT="36576" marB="27432" anchor="ctr">
                    <a:solidFill>
                      <a:srgbClr val="941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n_estimators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max_depth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learning_rate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0.1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subsample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0.8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colsample_bytree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0.7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min_child_weight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309360" y="3383279"/>
            <a:ext cx="4800600" cy="1225295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383280"/>
            <a:ext cx="64008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474381"/>
            <a:ext cx="44348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rPr dirty="0"/>
              <a:t>Why tune?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72946"/>
            <a:ext cx="4434840" cy="7848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rPr dirty="0"/>
              <a:t>Settings</a:t>
            </a:r>
            <a:r>
              <a:rPr lang="en-IN" dirty="0"/>
              <a:t> </a:t>
            </a:r>
            <a:r>
              <a:rPr lang="en-US" dirty="0"/>
              <a:t>affect model complexity and learning. Tuning compares combinations rather than relying on one guess</a:t>
            </a:r>
            <a:r>
              <a:rPr dirty="0"/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709160"/>
            <a:ext cx="480060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4709160"/>
            <a:ext cx="64008" cy="1143000"/>
          </a:xfrm>
          <a:prstGeom prst="rect">
            <a:avLst/>
          </a:prstGeom>
          <a:solidFill>
            <a:srgbClr val="F5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4864608"/>
            <a:ext cx="44348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Why macro F1?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5294376"/>
            <a:ext cx="44348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It gives equal weight to each class’s F1-score, making rare classes more visible.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Held-out test set • 229 samples • percentages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71600"/>
          <a:ext cx="1083564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54864" marT="36576" marB="27432" anchor="ctr">
                    <a:solidFill>
                      <a:srgbClr val="941C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73152" marR="54864" marT="36576" marB="27432" anchor="ctr">
                    <a:solidFill>
                      <a:srgbClr val="941C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Weighted F1</a:t>
                      </a:r>
                    </a:p>
                  </a:txBody>
                  <a:tcPr marL="73152" marR="54864" marT="36576" marB="27432" anchor="ctr">
                    <a:solidFill>
                      <a:srgbClr val="941C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Macro F1</a:t>
                      </a:r>
                    </a:p>
                  </a:txBody>
                  <a:tcPr marL="73152" marR="54864" marT="36576" marB="27432" anchor="ctr">
                    <a:solidFill>
                      <a:srgbClr val="941C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XGBoost Baseline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67.69%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66.65%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39.82%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XGBoost Weighted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65.94%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65.08%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38.66%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XGBoost Tuned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69.87%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68.32%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41.12%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LightGBM Baseline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68.56%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66.98%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34.40%</a:t>
                      </a:r>
                    </a:p>
                  </a:txBody>
                  <a:tcPr marL="73152" marR="54864" marT="36576" marB="27432" anchor="ctr">
                    <a:solidFill>
                      <a:srgbClr val="222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7F7FA"/>
                          </a:solidFill>
                          <a:latin typeface="Aptos"/>
                        </a:defRPr>
                      </a:pPr>
                      <a:r>
                        <a:t>LightGBM Tuned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66.81%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65.44%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B7B9C6"/>
                          </a:solidFill>
                          <a:latin typeface="Aptos"/>
                        </a:defRPr>
                      </a:pPr>
                      <a:r>
                        <a:t>33.49%</a:t>
                      </a:r>
                    </a:p>
                  </a:txBody>
                  <a:tcPr marL="73152" marR="54864" marT="36576" marB="27432" anchor="ctr">
                    <a:solidFill>
                      <a:srgbClr val="2C2C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80060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4800600"/>
            <a:ext cx="64008" cy="96012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4956048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Best test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5264743"/>
            <a:ext cx="470915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rPr dirty="0"/>
              <a:t>Tuned </a:t>
            </a:r>
            <a:r>
              <a:rPr dirty="0" err="1"/>
              <a:t>XGBoost</a:t>
            </a:r>
            <a:r>
              <a:rPr dirty="0"/>
              <a:t>: 69.87% accuracy and 41.12% macro F1.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80060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4800600"/>
            <a:ext cx="64008" cy="960120"/>
          </a:xfrm>
          <a:prstGeom prst="rect">
            <a:avLst/>
          </a:prstGeom>
          <a:solidFill>
            <a:srgbClr val="F5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7084" y="489661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rPr dirty="0"/>
              <a:t>Interpret carefully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244084"/>
            <a:ext cx="470915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7B9C6"/>
                </a:solidFill>
                <a:latin typeface="Aptos"/>
              </a:defRPr>
            </a:pPr>
            <a:r>
              <a:rPr dirty="0" err="1"/>
              <a:t>LightGBM</a:t>
            </a:r>
            <a:r>
              <a:rPr dirty="0"/>
              <a:t> had slightly higher tuning CV macro F1, but tuned </a:t>
            </a:r>
            <a:r>
              <a:rPr dirty="0" err="1"/>
              <a:t>XGBoost</a:t>
            </a:r>
            <a:r>
              <a:rPr dirty="0"/>
              <a:t> did better on the reported held-out test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Final Model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Tuned XGBoost • test-set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017520" cy="14173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2834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E5383B"/>
                </a:solidFill>
                <a:latin typeface="Aptos"/>
              </a:defRPr>
            </a:pPr>
            <a:r>
              <a:t>69.87%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834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7F7FA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41448"/>
            <a:ext cx="2788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Overall correct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017520" cy="14173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59" y="1581912"/>
            <a:ext cx="2834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E5383B"/>
                </a:solidFill>
                <a:latin typeface="Aptos"/>
              </a:defRPr>
            </a:pPr>
            <a:r>
              <a:t>67.23%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103120"/>
            <a:ext cx="2834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7F7FA"/>
                </a:solidFill>
                <a:latin typeface="Aptos"/>
              </a:defRPr>
            </a:pPr>
            <a:r>
              <a:t>Weighted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441448"/>
            <a:ext cx="2788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Weighted by class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417320"/>
            <a:ext cx="3017520" cy="14173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1581912"/>
            <a:ext cx="2834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E5383B"/>
                </a:solidFill>
                <a:latin typeface="Aptos"/>
              </a:defRPr>
            </a:pPr>
            <a:r>
              <a:t>69.87%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103120"/>
            <a:ext cx="2834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7F7FA"/>
                </a:solidFill>
                <a:latin typeface="Aptos"/>
              </a:defRPr>
            </a:pPr>
            <a:r>
              <a:t>Weighted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441448"/>
            <a:ext cx="2788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Weighted by class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3337560"/>
            <a:ext cx="3017520" cy="14173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14600" y="3502152"/>
            <a:ext cx="2834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E5383B"/>
                </a:solidFill>
                <a:latin typeface="Aptos"/>
              </a:defRPr>
            </a:pPr>
            <a:r>
              <a:t>68.32%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023360"/>
            <a:ext cx="2834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7F7FA"/>
                </a:solidFill>
                <a:latin typeface="Aptos"/>
              </a:defRPr>
            </a:pPr>
            <a:r>
              <a:t>Weighted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8" y="4361688"/>
            <a:ext cx="2788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Precision–recall balance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337560"/>
            <a:ext cx="3017520" cy="14173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79" y="3502152"/>
            <a:ext cx="2834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F5BA4A"/>
                </a:solidFill>
                <a:latin typeface="Aptos"/>
              </a:defRPr>
            </a:pPr>
            <a:r>
              <a:t>41.12%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4023360"/>
            <a:ext cx="28346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7F7FA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361688"/>
            <a:ext cx="2788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Equal weight per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532120"/>
            <a:ext cx="10424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B7B9C6"/>
                </a:solidFill>
                <a:latin typeface="Aptos"/>
              </a:defRPr>
            </a:pPr>
            <a:r>
              <a:t>Macro F1 is much lower than accuracy because performance is uneven across classes. The model missed the rare quality-3 and quality-4 examples in this test split.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Top features according to the final XGBoost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25880"/>
          <a:ext cx="7040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38160" y="1600200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38160" y="1600200"/>
            <a:ext cx="64008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9328" y="1755648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1.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8" y="2185416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15.12% importance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971800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2971800"/>
            <a:ext cx="64008" cy="1143000"/>
          </a:xfrm>
          <a:prstGeom prst="rect">
            <a:avLst/>
          </a:prstGeom>
          <a:solidFill>
            <a:srgbClr val="F5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3127248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2. Volatile acidity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3557016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11.01% importance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343400"/>
            <a:ext cx="3291840" cy="11430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4343400"/>
            <a:ext cx="64008" cy="1143000"/>
          </a:xfrm>
          <a:prstGeom prst="rect">
            <a:avLst/>
          </a:prstGeom>
          <a:solidFill>
            <a:srgbClr val="5A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4498848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3. Sulphates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4928616"/>
            <a:ext cx="2926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10.72% importance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89320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B7B9C6"/>
                </a:solidFill>
                <a:latin typeface="Aptos"/>
              </a:defRPr>
            </a:pPr>
            <a:r>
              <a:t>Feature importance is model-based; it does not prove a feature causes higher or lower quality.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Web Application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Streamlit interface connected to the saved XGBoost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19202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7F7FA"/>
                </a:solidFill>
                <a:latin typeface="Aptos"/>
              </a:defRPr>
            </a:pPr>
            <a:r>
              <a:t>User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11 wine properties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39" y="1828800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E5383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55448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709928"/>
            <a:ext cx="19202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7F7FA"/>
                </a:solidFill>
                <a:latin typeface="Aptos"/>
              </a:defRPr>
            </a:pPr>
            <a:r>
              <a:t>Streamlit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57400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Validate + arrange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1828800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E5383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55448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97879" y="1709928"/>
            <a:ext cx="19202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7F7FA"/>
                </a:solidFill>
                <a:latin typeface="Aptos"/>
              </a:defRPr>
            </a:pPr>
            <a:r>
              <a:t>XGBoost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2057400"/>
            <a:ext cx="19202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Load saved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828800"/>
            <a:ext cx="3840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E5383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554480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1709928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7F7FA"/>
                </a:solidFill>
                <a:latin typeface="Aptos"/>
              </a:defRPr>
            </a:pPr>
            <a:r>
              <a:t>Prediction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057400"/>
            <a:ext cx="2560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Quality score + probabilities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546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E5383B"/>
                </a:solidFill>
                <a:latin typeface="Aptos"/>
              </a:defRPr>
            </a:pPr>
            <a:r>
              <a:t>THREE WEBSITE PAGES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1188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3611880"/>
            <a:ext cx="64008" cy="141732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3767328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197096"/>
            <a:ext cx="2971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7B9C6"/>
                </a:solidFill>
                <a:latin typeface="Aptos"/>
              </a:defRPr>
            </a:pPr>
            <a:r>
              <a:t>Sliders for inputs, predicted score, probability chart and input-range warning.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61188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34840" y="3611880"/>
            <a:ext cx="64008" cy="1417320"/>
          </a:xfrm>
          <a:prstGeom prst="rect">
            <a:avLst/>
          </a:prstGeom>
          <a:solidFill>
            <a:srgbClr val="F5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36007" y="3767328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Data Exploration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7" y="4197096"/>
            <a:ext cx="2971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7B9C6"/>
                </a:solidFill>
                <a:latin typeface="Aptos"/>
              </a:defRPr>
            </a:pPr>
            <a:r>
              <a:t>Dataset preview, descriptive statistics, quality distribution and correlations.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611880"/>
            <a:ext cx="3337560" cy="141732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64008" cy="1417320"/>
          </a:xfrm>
          <a:prstGeom prst="rect">
            <a:avLst/>
          </a:prstGeom>
          <a:solidFill>
            <a:srgbClr val="5A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93608" y="3767328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Model Information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4197096"/>
            <a:ext cx="2971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B7B9C6"/>
                </a:solidFill>
                <a:latin typeface="Aptos"/>
              </a:defRPr>
            </a:pPr>
            <a:r>
              <a:t>Comparison table, test metrics, hyperparameters, feature importance and confusion matrix.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B7B9C6"/>
                </a:solidFill>
                <a:latin typeface="Aptos"/>
              </a:defRPr>
            </a:pPr>
            <a:r>
              <a:t>Deployment: GitHub repository + Streamlit Community Cloud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Conclusion, 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What we learned and what can be 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146304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1463040"/>
          </a:xfrm>
          <a:prstGeom prst="rect">
            <a:avLst/>
          </a:prstGeom>
          <a:solidFill>
            <a:srgbClr val="5A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81328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11095"/>
            <a:ext cx="4846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B7B9C6"/>
                </a:solidFill>
                <a:latin typeface="Aptos"/>
              </a:defRPr>
            </a:pPr>
            <a:r>
              <a:t>Tuned XGBoost was selected from five experiments and achieved 69.87% test accuracy on the WineQT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146304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1463040"/>
          </a:xfrm>
          <a:prstGeom prst="rect">
            <a:avLst/>
          </a:prstGeom>
          <a:solidFill>
            <a:srgbClr val="F5B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81328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11095"/>
            <a:ext cx="48463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B7B9C6"/>
                </a:solidFill>
                <a:latin typeface="Aptos"/>
              </a:defRPr>
            </a:pPr>
            <a:r>
              <a:t>Small, imbalanced dataset; poor results for rare quality classes; predictions are estimates, not professional assessments.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5383B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10607040" cy="16459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7F7FA"/>
                </a:solidFill>
                <a:latin typeface="Aptos"/>
              </a:defRPr>
            </a:pPr>
            <a:r>
              <a:t>•  Collect more representative samples for rare quality scores.</a:t>
            </a:r>
          </a:p>
          <a:p>
            <a:pPr>
              <a:spcAft>
                <a:spcPts val="1100"/>
              </a:spcAft>
              <a:defRPr sz="1600">
                <a:solidFill>
                  <a:srgbClr val="F7F7FA"/>
                </a:solidFill>
                <a:latin typeface="Aptos"/>
              </a:defRPr>
            </a:pPr>
            <a:r>
              <a:t>•  Test additional imbalance-handling strategies and models.</a:t>
            </a:r>
          </a:p>
          <a:p>
            <a:pPr>
              <a:spcAft>
                <a:spcPts val="1100"/>
              </a:spcAft>
              <a:defRPr sz="1600">
                <a:solidFill>
                  <a:srgbClr val="F7F7FA"/>
                </a:solidFill>
                <a:latin typeface="Aptos"/>
              </a:defRPr>
            </a:pPr>
            <a:r>
              <a:t>•  Evaluate on a separate external dataset and calibrate probabilities.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7F7FA"/>
                </a:solidFill>
                <a:latin typeface="Aptos"/>
              </a:defRPr>
            </a:pPr>
            <a:r>
              <a:rPr dirty="0"/>
              <a:t>Thank you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7F7FA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777240" cy="5029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95528"/>
            <a:ext cx="10149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B7B9C6"/>
                </a:solidFill>
                <a:latin typeface="Aptos"/>
              </a:defRPr>
            </a:pPr>
            <a:r>
              <a:t>Show the working application to your professor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B7B9C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E5383B"/>
                </a:solidFill>
                <a:latin typeface="Aptos"/>
              </a:defRPr>
            </a:pPr>
            <a:r>
              <a:t>LIVE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1938528"/>
            <a:ext cx="1033272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7F7FA"/>
                </a:solidFill>
                <a:latin typeface="Aptos"/>
              </a:defRPr>
            </a:pPr>
            <a:r>
              <a:rPr lang="en-IN" dirty="0"/>
              <a:t>https://wine-quality-prediction-sxjqkaj96aobhbbxsmpf8r.streamlit.app/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9875520" cy="1828800"/>
          </a:xfrm>
          <a:prstGeom prst="roundRect">
            <a:avLst>
              <a:gd name="adj" fmla="val 12000"/>
            </a:avLst>
          </a:prstGeom>
          <a:solidFill>
            <a:srgbClr val="22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3246120"/>
            <a:ext cx="9326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5BA4A"/>
                </a:solidFill>
                <a:latin typeface="Aptos"/>
              </a:defRPr>
            </a:pPr>
            <a:r>
              <a:t>DEMO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657600"/>
            <a:ext cx="9144000" cy="10058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7F7FA"/>
                </a:solidFill>
                <a:latin typeface="Aptos"/>
              </a:defRPr>
            </a:pPr>
            <a:r>
              <a:t>•  Open Prediction and change a few input sliders.</a:t>
            </a:r>
          </a:p>
          <a:p>
            <a:pPr>
              <a:spcAft>
                <a:spcPts val="1100"/>
              </a:spcAft>
              <a:defRPr sz="1400">
                <a:solidFill>
                  <a:srgbClr val="F7F7FA"/>
                </a:solidFill>
                <a:latin typeface="Aptos"/>
              </a:defRPr>
            </a:pPr>
            <a:r>
              <a:t>•  Run prediction and explain the score and probability chart.</a:t>
            </a:r>
          </a:p>
          <a:p>
            <a:pPr>
              <a:spcAft>
                <a:spcPts val="1100"/>
              </a:spcAft>
              <a:defRPr sz="1400">
                <a:solidFill>
                  <a:srgbClr val="F7F7FA"/>
                </a:solidFill>
                <a:latin typeface="Aptos"/>
              </a:defRPr>
            </a:pPr>
            <a:r>
              <a:t>•  Open Data Exploration and Model Information to show supporting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B7B9C6"/>
                </a:solidFill>
                <a:latin typeface="Aptos"/>
              </a:defRPr>
            </a:pPr>
            <a:r>
              <a:t>Repository: open the GitHub project and point out app.py, train_model.py, data/, and models/.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1065</Words>
  <Application>Microsoft Office PowerPoint</Application>
  <PresentationFormat>Widescreen</PresentationFormat>
  <Paragraphs>233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Quality Prediction Using XGBoost and LightGBM</dc:title>
  <dc:subject>Machine Learning Project Presentation</dc:subject>
  <dc:creator>Sreeja Challa</dc:creator>
  <cp:keywords>WineQT, XGBoost, LightGBM, Streamlit, Machine Learning</cp:keywords>
  <dc:description>generated using python-pptx</dc:description>
  <cp:lastModifiedBy>Challa Sreejaa</cp:lastModifiedBy>
  <cp:revision>2</cp:revision>
  <dcterms:created xsi:type="dcterms:W3CDTF">2013-01-27T09:14:16Z</dcterms:created>
  <dcterms:modified xsi:type="dcterms:W3CDTF">2026-10-14T05:03:41Z</dcterms:modified>
  <cp:category/>
</cp:coreProperties>
</file>